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1" r:id="rId3"/>
    <p:sldMasterId id="214748365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8288000" cy="10287000"/>
  <p:notesSz cx="7559675" cy="10691813"/>
  <p:embeddedFontLst>
    <p:embeddedFont>
      <p:font typeface="Proxima Nova"/>
    </p:embeddedFont>
    <p:embeddedFont>
      <p:font typeface="Proxima Nova Semibold"/>
    </p:embeddedFont>
    <p:embeddedFont>
      <p:font typeface="Microsoft YaHei"/>
    </p:embeddedFont>
    <p:embeddedFont>
      <p:font typeface="DejaVu Sans"/>
      <p:regular r:id="rId36"/>
      <p:bold r:id="rId37"/>
      <p:italic r:id="rId38"/>
      <p:boldItalic r:id="rId39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font" Target="fonts/Font_1_DejaVu_Sans_Regular.fntdata"/><Relationship Id="rId37" Type="http://schemas.openxmlformats.org/officeDocument/2006/relationships/font" Target="fonts/Font_2_DejaVu_Sans_Bold.fntdata"/><Relationship Id="rId38" Type="http://schemas.openxmlformats.org/officeDocument/2006/relationships/font" Target="fonts/Font_3_DejaVu_Sans_Italic.fntdata"/><Relationship Id="rId39" Type="http://schemas.openxmlformats.org/officeDocument/2006/relationships/font" Target="fonts/Font_4_DejaVu_Sans_BoldItalic.fntdata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USTOM_3_1_1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6;p3"/>
          <p:cNvGrpSpPr/>
          <p:nvPr/>
        </p:nvGrpSpPr>
        <p:grpSpPr>
          <a:xfrm>
            <a:off x="17479440" y="9377640"/>
            <a:ext cx="516240" cy="529920"/>
            <a:chOff x="17479440" y="9377640"/>
            <a:chExt cx="516240" cy="529920"/>
          </a:xfrm>
        </p:grpSpPr>
        <p:sp>
          <p:nvSpPr>
            <p:cNvPr id="3" name="Google Shape;17;p3"/>
            <p:cNvSpPr/>
            <p:nvPr/>
          </p:nvSpPr>
          <p:spPr>
            <a:xfrm>
              <a:off x="1747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" name="Google Shape;18;p3"/>
            <p:cNvSpPr/>
            <p:nvPr/>
          </p:nvSpPr>
          <p:spPr>
            <a:xfrm>
              <a:off x="1747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5" name="Google Shape;19;p3"/>
            <p:cNvSpPr/>
            <p:nvPr/>
          </p:nvSpPr>
          <p:spPr>
            <a:xfrm>
              <a:off x="1774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6" name="Google Shape;20;p3"/>
            <p:cNvSpPr/>
            <p:nvPr/>
          </p:nvSpPr>
          <p:spPr>
            <a:xfrm>
              <a:off x="1774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1131480"/>
            <a:ext cx="164584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16;p3"/>
          <p:cNvGrpSpPr/>
          <p:nvPr/>
        </p:nvGrpSpPr>
        <p:grpSpPr>
          <a:xfrm>
            <a:off x="17479440" y="9377640"/>
            <a:ext cx="516240" cy="529920"/>
            <a:chOff x="17479440" y="9377640"/>
            <a:chExt cx="516240" cy="529920"/>
          </a:xfrm>
        </p:grpSpPr>
        <p:sp>
          <p:nvSpPr>
            <p:cNvPr id="10" name="Google Shape;17;p3"/>
            <p:cNvSpPr/>
            <p:nvPr/>
          </p:nvSpPr>
          <p:spPr>
            <a:xfrm>
              <a:off x="1747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1" name="Google Shape;18;p3"/>
            <p:cNvSpPr/>
            <p:nvPr/>
          </p:nvSpPr>
          <p:spPr>
            <a:xfrm>
              <a:off x="1747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2" name="Google Shape;19;p3"/>
            <p:cNvSpPr/>
            <p:nvPr/>
          </p:nvSpPr>
          <p:spPr>
            <a:xfrm>
              <a:off x="1774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3" name="Google Shape;20;p3"/>
            <p:cNvSpPr/>
            <p:nvPr/>
          </p:nvSpPr>
          <p:spPr>
            <a:xfrm>
              <a:off x="1774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_3_1_1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16;p3"/>
          <p:cNvGrpSpPr/>
          <p:nvPr/>
        </p:nvGrpSpPr>
        <p:grpSpPr>
          <a:xfrm>
            <a:off x="17479440" y="9377640"/>
            <a:ext cx="516240" cy="529920"/>
            <a:chOff x="17479440" y="9377640"/>
            <a:chExt cx="516240" cy="529920"/>
          </a:xfrm>
        </p:grpSpPr>
        <p:sp>
          <p:nvSpPr>
            <p:cNvPr id="22" name="Google Shape;17;p3"/>
            <p:cNvSpPr/>
            <p:nvPr/>
          </p:nvSpPr>
          <p:spPr>
            <a:xfrm>
              <a:off x="1747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3" name="Google Shape;18;p3"/>
            <p:cNvSpPr/>
            <p:nvPr/>
          </p:nvSpPr>
          <p:spPr>
            <a:xfrm>
              <a:off x="1747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4" name="Google Shape;19;p3"/>
            <p:cNvSpPr/>
            <p:nvPr/>
          </p:nvSpPr>
          <p:spPr>
            <a:xfrm>
              <a:off x="1774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5" name="Google Shape;20;p3"/>
            <p:cNvSpPr/>
            <p:nvPr/>
          </p:nvSpPr>
          <p:spPr>
            <a:xfrm>
              <a:off x="1774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USTOM_3_1_1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16;p3"/>
          <p:cNvGrpSpPr/>
          <p:nvPr/>
        </p:nvGrpSpPr>
        <p:grpSpPr>
          <a:xfrm>
            <a:off x="17479440" y="9377640"/>
            <a:ext cx="516240" cy="529920"/>
            <a:chOff x="17479440" y="9377640"/>
            <a:chExt cx="516240" cy="529920"/>
          </a:xfrm>
        </p:grpSpPr>
        <p:sp>
          <p:nvSpPr>
            <p:cNvPr id="29" name="Google Shape;17;p3"/>
            <p:cNvSpPr/>
            <p:nvPr/>
          </p:nvSpPr>
          <p:spPr>
            <a:xfrm>
              <a:off x="1747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0" name="Google Shape;18;p3"/>
            <p:cNvSpPr/>
            <p:nvPr/>
          </p:nvSpPr>
          <p:spPr>
            <a:xfrm>
              <a:off x="1747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1" name="Google Shape;19;p3"/>
            <p:cNvSpPr/>
            <p:nvPr/>
          </p:nvSpPr>
          <p:spPr>
            <a:xfrm>
              <a:off x="1774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2" name="Google Shape;20;p3"/>
            <p:cNvSpPr/>
            <p:nvPr/>
          </p:nvSpPr>
          <p:spPr>
            <a:xfrm>
              <a:off x="1774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_3_1_1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16;p3"/>
          <p:cNvGrpSpPr/>
          <p:nvPr/>
        </p:nvGrpSpPr>
        <p:grpSpPr>
          <a:xfrm>
            <a:off x="17479440" y="9377640"/>
            <a:ext cx="516240" cy="529920"/>
            <a:chOff x="17479440" y="9377640"/>
            <a:chExt cx="516240" cy="529920"/>
          </a:xfrm>
        </p:grpSpPr>
        <p:sp>
          <p:nvSpPr>
            <p:cNvPr id="36" name="Google Shape;17;p3"/>
            <p:cNvSpPr/>
            <p:nvPr/>
          </p:nvSpPr>
          <p:spPr>
            <a:xfrm>
              <a:off x="1747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7" name="Google Shape;18;p3"/>
            <p:cNvSpPr/>
            <p:nvPr/>
          </p:nvSpPr>
          <p:spPr>
            <a:xfrm>
              <a:off x="1747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8" name="Google Shape;19;p3"/>
            <p:cNvSpPr/>
            <p:nvPr/>
          </p:nvSpPr>
          <p:spPr>
            <a:xfrm>
              <a:off x="1774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39" name="Google Shape;20;p3"/>
            <p:cNvSpPr/>
            <p:nvPr/>
          </p:nvSpPr>
          <p:spPr>
            <a:xfrm>
              <a:off x="1774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48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396;p26"/>
          <p:cNvGrpSpPr/>
          <p:nvPr/>
        </p:nvGrpSpPr>
        <p:grpSpPr>
          <a:xfrm>
            <a:off x="17479440" y="9377640"/>
            <a:ext cx="516240" cy="529920"/>
            <a:chOff x="17479440" y="9377640"/>
            <a:chExt cx="516240" cy="529920"/>
          </a:xfrm>
        </p:grpSpPr>
        <p:sp>
          <p:nvSpPr>
            <p:cNvPr id="17" name="Google Shape;397;p26"/>
            <p:cNvSpPr/>
            <p:nvPr/>
          </p:nvSpPr>
          <p:spPr>
            <a:xfrm>
              <a:off x="1747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8" name="Google Shape;398;p26"/>
            <p:cNvSpPr/>
            <p:nvPr/>
          </p:nvSpPr>
          <p:spPr>
            <a:xfrm>
              <a:off x="1747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9" name="Google Shape;399;p26"/>
            <p:cNvSpPr/>
            <p:nvPr/>
          </p:nvSpPr>
          <p:spPr>
            <a:xfrm>
              <a:off x="1774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20" name="Google Shape;400;p26"/>
            <p:cNvSpPr/>
            <p:nvPr/>
          </p:nvSpPr>
          <p:spPr>
            <a:xfrm>
              <a:off x="1774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bd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859;p 1"/>
          <p:cNvSpPr/>
          <p:nvPr/>
        </p:nvSpPr>
        <p:spPr>
          <a:xfrm>
            <a:off x="14425200" y="723960"/>
            <a:ext cx="9562320" cy="95623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3" name="Google Shape;860;p 1"/>
          <p:cNvSpPr/>
          <p:nvPr/>
        </p:nvSpPr>
        <p:spPr>
          <a:xfrm>
            <a:off x="4854960" y="723960"/>
            <a:ext cx="9562320" cy="9562320"/>
          </a:xfrm>
          <a:prstGeom prst="ellipse">
            <a:avLst/>
          </a:pr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4" name="Google Shape;861;p 1"/>
          <p:cNvSpPr/>
          <p:nvPr/>
        </p:nvSpPr>
        <p:spPr>
          <a:xfrm>
            <a:off x="551880" y="489600"/>
            <a:ext cx="14291280" cy="49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ru" sz="7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Классификация проектов объектов капитального строительства</a:t>
            </a:r>
            <a:r>
              <a:rPr lang="ru" sz="80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 </a:t>
            </a:r>
            <a:endParaRPr lang="ru-RU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" name="Google Shape;863;p 1"/>
          <p:cNvGrpSpPr/>
          <p:nvPr/>
        </p:nvGrpSpPr>
        <p:grpSpPr>
          <a:xfrm>
            <a:off x="17479440" y="9377640"/>
            <a:ext cx="516240" cy="529920"/>
            <a:chOff x="17479440" y="9377640"/>
            <a:chExt cx="516240" cy="529920"/>
          </a:xfrm>
        </p:grpSpPr>
        <p:sp>
          <p:nvSpPr>
            <p:cNvPr id="46" name="Google Shape;864;p 1"/>
            <p:cNvSpPr/>
            <p:nvPr/>
          </p:nvSpPr>
          <p:spPr>
            <a:xfrm>
              <a:off x="1747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7" name="Google Shape;865;p 1"/>
            <p:cNvSpPr/>
            <p:nvPr/>
          </p:nvSpPr>
          <p:spPr>
            <a:xfrm>
              <a:off x="1747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8" name="Google Shape;866;p 1"/>
            <p:cNvSpPr/>
            <p:nvPr/>
          </p:nvSpPr>
          <p:spPr>
            <a:xfrm>
              <a:off x="17749440" y="937764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49" name="Google Shape;867;p 1"/>
            <p:cNvSpPr/>
            <p:nvPr/>
          </p:nvSpPr>
          <p:spPr>
            <a:xfrm>
              <a:off x="17749440" y="965556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50" name="Google Shape;1623;p 1"/>
          <p:cNvSpPr/>
          <p:nvPr/>
        </p:nvSpPr>
        <p:spPr>
          <a:xfrm>
            <a:off x="360000" y="7740000"/>
            <a:ext cx="1241964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ru" sz="2400" b="1" u="none" strike="noStrike">
                <a:solidFill>
                  <a:schemeClr val="dk1"/>
                </a:solidFill>
                <a:effectLst/>
                <a:uFillTx/>
                <a:latin typeface="Proxima Nova"/>
                <a:ea typeface="Proxima Nova"/>
              </a:rPr>
              <a:t>Евгений Тян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lang="ru" sz="2400" b="0" u="none" strike="noStrike">
                <a:solidFill>
                  <a:schemeClr val="dk1"/>
                </a:solidFill>
                <a:effectLst/>
                <a:uFillTx/>
                <a:latin typeface="Proxima Nova"/>
                <a:ea typeface="Proxima Nova"/>
              </a:rPr>
              <a:t>Студент курса: «Машинное обучение: фундаментальные инструменты и практики»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ru" sz="2400" b="0" u="none" strike="noStrike">
                <a:solidFill>
                  <a:schemeClr val="dk1"/>
                </a:solidFill>
                <a:effectLst/>
                <a:uFillTx/>
                <a:latin typeface="Proxima Nova"/>
                <a:ea typeface="Proxima Nova"/>
              </a:rPr>
              <a:t>Ведущий инженер-программист Renga Software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bd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030;p 1"/>
          <p:cNvSpPr/>
          <p:nvPr/>
        </p:nvSpPr>
        <p:spPr>
          <a:xfrm>
            <a:off x="12611880" y="3974400"/>
            <a:ext cx="5675400" cy="5675400"/>
          </a:xfrm>
          <a:prstGeom prst="ellipse">
            <a:avLst/>
          </a:pr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2" name="Google Shape;1031;p 2"/>
          <p:cNvSpPr/>
          <p:nvPr/>
        </p:nvSpPr>
        <p:spPr>
          <a:xfrm>
            <a:off x="6934320" y="3952800"/>
            <a:ext cx="5675400" cy="5675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1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32;p 2"/>
          <p:cNvSpPr/>
          <p:nvPr/>
        </p:nvSpPr>
        <p:spPr>
          <a:xfrm>
            <a:off x="551880" y="489600"/>
            <a:ext cx="14291280" cy="49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Постановка задачи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741;p 1"/>
          <p:cNvSpPr/>
          <p:nvPr/>
        </p:nvSpPr>
        <p:spPr>
          <a:xfrm>
            <a:off x="720000" y="1800000"/>
            <a:ext cx="16199640" cy="75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ru" sz="3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Наша компания (Renga Software) занимается разработкой ПО для проектирования зданий и сооружений. В процессе внутреннего планирования нам понадобилось оценить объем и долю рынка проектирования зданий и сооружений, а также смежных областей.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ru" sz="3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Один из методов оценки доли рынка проектирования зданий и сооружений, который мы решили попробовать -  классификация проектов прошедших государственную экспертизу. Далее от этих проектов мы можем перейти к компаниям, количеству сотрудников, работающих в них и различным показателям экономической деятельности.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742;p 1"/>
          <p:cNvSpPr/>
          <p:nvPr/>
        </p:nvSpPr>
        <p:spPr>
          <a:xfrm>
            <a:off x="551880" y="489600"/>
            <a:ext cx="11327760" cy="14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0" u="none" strike="noStrike">
                <a:solidFill>
                  <a:srgbClr val="000000"/>
                </a:solidFill>
                <a:effectLst/>
                <a:uFillTx/>
                <a:latin typeface="Proxima Nova Semibold"/>
                <a:ea typeface="Proxima Nova Semibold"/>
              </a:rPr>
              <a:t>Описание задачи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1190;p 2"/>
          <p:cNvGrpSpPr/>
          <p:nvPr/>
        </p:nvGrpSpPr>
        <p:grpSpPr>
          <a:xfrm>
            <a:off x="558000" y="2952000"/>
            <a:ext cx="7139160" cy="2728080"/>
            <a:chOff x="558000" y="2952000"/>
            <a:chExt cx="7139160" cy="2728080"/>
          </a:xfrm>
        </p:grpSpPr>
        <p:sp>
          <p:nvSpPr>
            <p:cNvPr id="57" name="Google Shape;1191;p 3"/>
            <p:cNvSpPr/>
            <p:nvPr/>
          </p:nvSpPr>
          <p:spPr>
            <a:xfrm>
              <a:off x="1981080" y="2952000"/>
              <a:ext cx="5716080" cy="272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ОКВЭД не релевантен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r>
                <a:rPr lang="ru" sz="18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ОКВЭД организации часто слабо отражает действительный вид деятельности компании. Компании меняют свой профиль не меняя ОКВЭД, имеют сразу несколько смежных кодов и т.п.. Под один ОКВЭД может подпадать несколько интересных нам категорий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Google Shape;1192;p 3"/>
            <p:cNvSpPr/>
            <p:nvPr/>
          </p:nvSpPr>
          <p:spPr>
            <a:xfrm>
              <a:off x="558000" y="2952000"/>
              <a:ext cx="1000080" cy="10000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1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" name="Google Shape;1193;p 3"/>
          <p:cNvGrpSpPr/>
          <p:nvPr/>
        </p:nvGrpSpPr>
        <p:grpSpPr>
          <a:xfrm>
            <a:off x="551880" y="6418080"/>
            <a:ext cx="7145280" cy="2728080"/>
            <a:chOff x="551880" y="6418080"/>
            <a:chExt cx="7145280" cy="2728080"/>
          </a:xfrm>
        </p:grpSpPr>
        <p:sp>
          <p:nvSpPr>
            <p:cNvPr id="60" name="Google Shape;1194;p 3"/>
            <p:cNvSpPr/>
            <p:nvPr/>
          </p:nvSpPr>
          <p:spPr>
            <a:xfrm>
              <a:off x="1981080" y="6419880"/>
              <a:ext cx="5716080" cy="272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Хочется иметь инструмент под рукой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r>
                <a:rPr lang="ru" sz="1800" b="0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В процессе анализа появилось желание иметь инструмент для быстрой прикидки состояния рынка. То есть иметь возможность запустить классификацию в любой момент для разных наборов интересующих категорий.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Google Shape;1195;p 3"/>
            <p:cNvSpPr/>
            <p:nvPr/>
          </p:nvSpPr>
          <p:spPr>
            <a:xfrm>
              <a:off x="551880" y="6418080"/>
              <a:ext cx="997560" cy="99756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3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2" name="Google Shape;1196;p 3"/>
          <p:cNvGrpSpPr/>
          <p:nvPr/>
        </p:nvGrpSpPr>
        <p:grpSpPr>
          <a:xfrm>
            <a:off x="9144000" y="6422400"/>
            <a:ext cx="7134480" cy="2723400"/>
            <a:chOff x="9144000" y="6422400"/>
            <a:chExt cx="7134480" cy="2723400"/>
          </a:xfrm>
        </p:grpSpPr>
        <p:sp>
          <p:nvSpPr>
            <p:cNvPr id="63" name="Google Shape;1197;p 3"/>
            <p:cNvSpPr/>
            <p:nvPr/>
          </p:nvSpPr>
          <p:spPr>
            <a:xfrm>
              <a:off x="10562400" y="6429240"/>
              <a:ext cx="5716080" cy="271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Простые инструменты BI не работают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r>
                <a:rPr lang="ru" sz="1800" b="0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Первичная классификация делалась простым поиском ключевых слов в названии проекта. Такой подход имеет ряд недостатков. В связи с чем я решил взять эту тему в качестве диплома с целью довести проект до переиспользуемого решения внутри компании.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Google Shape;1198;p 3"/>
            <p:cNvSpPr/>
            <p:nvPr/>
          </p:nvSpPr>
          <p:spPr>
            <a:xfrm>
              <a:off x="9144000" y="6422400"/>
              <a:ext cx="992880" cy="9928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4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Google Shape;1199;p 3"/>
          <p:cNvGrpSpPr/>
          <p:nvPr/>
        </p:nvGrpSpPr>
        <p:grpSpPr>
          <a:xfrm>
            <a:off x="9144000" y="2952000"/>
            <a:ext cx="7134480" cy="2728080"/>
            <a:chOff x="9144000" y="2952000"/>
            <a:chExt cx="7134480" cy="2728080"/>
          </a:xfrm>
        </p:grpSpPr>
        <p:sp>
          <p:nvSpPr>
            <p:cNvPr id="66" name="Google Shape;1200;p 3"/>
            <p:cNvSpPr/>
            <p:nvPr/>
          </p:nvSpPr>
          <p:spPr>
            <a:xfrm>
              <a:off x="10562400" y="2952000"/>
              <a:ext cx="5716080" cy="272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Заказной анализ иногда недостаточен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r>
                <a:rPr lang="ru" sz="18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Была заказана аналитика рынка, но по некоторым причинам хотелось ее перепроверить альтернативными способами. Большего сказать не могу.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Google Shape;1201;p 3"/>
            <p:cNvSpPr/>
            <p:nvPr/>
          </p:nvSpPr>
          <p:spPr>
            <a:xfrm>
              <a:off x="9144000" y="2952000"/>
              <a:ext cx="1000080" cy="10000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2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" name="Google Shape;1202;p 3"/>
          <p:cNvSpPr/>
          <p:nvPr/>
        </p:nvSpPr>
        <p:spPr>
          <a:xfrm>
            <a:off x="551880" y="489600"/>
            <a:ext cx="15287760" cy="14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Проблемы с которыми столкнулись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1190;p 1"/>
          <p:cNvGrpSpPr/>
          <p:nvPr/>
        </p:nvGrpSpPr>
        <p:grpSpPr>
          <a:xfrm>
            <a:off x="558000" y="2952000"/>
            <a:ext cx="7139160" cy="2728080"/>
            <a:chOff x="558000" y="2952000"/>
            <a:chExt cx="7139160" cy="2728080"/>
          </a:xfrm>
        </p:grpSpPr>
        <p:sp>
          <p:nvSpPr>
            <p:cNvPr id="70" name="Google Shape;1191;p 2"/>
            <p:cNvSpPr/>
            <p:nvPr/>
          </p:nvSpPr>
          <p:spPr>
            <a:xfrm>
              <a:off x="1981080" y="2952000"/>
              <a:ext cx="5716080" cy="272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Очень много ручного труда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r>
                <a:rPr lang="ru" sz="18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При классификации проектов с помощью поиска подстрок и ключевых слов требуется написать огромное количество условий для того, чтобы добиться классификации значительной части проектов.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Google Shape;1192;p 2"/>
            <p:cNvSpPr/>
            <p:nvPr/>
          </p:nvSpPr>
          <p:spPr>
            <a:xfrm>
              <a:off x="558000" y="2952000"/>
              <a:ext cx="1000080" cy="10000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1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" name="Google Shape;1193;p 2"/>
          <p:cNvGrpSpPr/>
          <p:nvPr/>
        </p:nvGrpSpPr>
        <p:grpSpPr>
          <a:xfrm>
            <a:off x="551880" y="6418080"/>
            <a:ext cx="7145280" cy="2728080"/>
            <a:chOff x="551880" y="6418080"/>
            <a:chExt cx="7145280" cy="2728080"/>
          </a:xfrm>
        </p:grpSpPr>
        <p:sp>
          <p:nvSpPr>
            <p:cNvPr id="73" name="Google Shape;1194;p 2"/>
            <p:cNvSpPr/>
            <p:nvPr/>
          </p:nvSpPr>
          <p:spPr>
            <a:xfrm>
              <a:off x="1981080" y="6419880"/>
              <a:ext cx="5716080" cy="272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Невозможно покрыть все разнообразие проектов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r>
                <a:rPr lang="ru" sz="1800" b="0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После определенного процента классифицированных проектов остается «длинный хвост», т.е. те проекты, которые настолько кникальны, что добавление слов для поиска почти перестает увеличивать количество классифицированных проектов.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Google Shape;1195;p 2"/>
            <p:cNvSpPr/>
            <p:nvPr/>
          </p:nvSpPr>
          <p:spPr>
            <a:xfrm>
              <a:off x="551880" y="6418080"/>
              <a:ext cx="997560" cy="99756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3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5" name="Google Shape;1196;p 2"/>
          <p:cNvGrpSpPr/>
          <p:nvPr/>
        </p:nvGrpSpPr>
        <p:grpSpPr>
          <a:xfrm>
            <a:off x="9144000" y="6422400"/>
            <a:ext cx="7134480" cy="2723400"/>
            <a:chOff x="9144000" y="6422400"/>
            <a:chExt cx="7134480" cy="2723400"/>
          </a:xfrm>
        </p:grpSpPr>
        <p:sp>
          <p:nvSpPr>
            <p:cNvPr id="76" name="Google Shape;1197;p 2"/>
            <p:cNvSpPr/>
            <p:nvPr/>
          </p:nvSpPr>
          <p:spPr>
            <a:xfrm>
              <a:off x="10562400" y="6429240"/>
              <a:ext cx="5716080" cy="271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Порядок применения условий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r>
                <a:rPr lang="ru" sz="1800" b="0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При поиске подстрок и ключевых слов одни классы  могут затенять другие. То есть порядок рассмотрения условий поиска влияет на то к какому классу отнесется проект, если в названии проекта встречаются слова из разных классов.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Google Shape;1198;p 2"/>
            <p:cNvSpPr/>
            <p:nvPr/>
          </p:nvSpPr>
          <p:spPr>
            <a:xfrm>
              <a:off x="9144000" y="6422400"/>
              <a:ext cx="992880" cy="9928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4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oogle Shape;1199;p 2"/>
          <p:cNvGrpSpPr/>
          <p:nvPr/>
        </p:nvGrpSpPr>
        <p:grpSpPr>
          <a:xfrm>
            <a:off x="9144000" y="2952000"/>
            <a:ext cx="7134480" cy="2728080"/>
            <a:chOff x="9144000" y="2952000"/>
            <a:chExt cx="7134480" cy="2728080"/>
          </a:xfrm>
        </p:grpSpPr>
        <p:sp>
          <p:nvSpPr>
            <p:cNvPr id="79" name="Google Shape;1200;p 2"/>
            <p:cNvSpPr/>
            <p:nvPr/>
          </p:nvSpPr>
          <p:spPr>
            <a:xfrm>
              <a:off x="10562400" y="2952000"/>
              <a:ext cx="5716080" cy="2728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90000" tIns="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Ограничения инструментов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r>
                <a:rPr lang="ru" sz="18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Как следствие из пункта 1 – в инструменте поиска требуется создавать гигантские формулы для классификации проектов путем простого поиска. В нашем случае мы достигли максимума возможностей PowerBI. Можно было бы перейти на другой инструмент или просто скрипт на python, но это бы не решило проблемы 3 и 4.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99"/>
                </a:spcBef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Google Shape;1201;p 2"/>
            <p:cNvSpPr/>
            <p:nvPr/>
          </p:nvSpPr>
          <p:spPr>
            <a:xfrm>
              <a:off x="9144000" y="2952000"/>
              <a:ext cx="1000080" cy="10000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1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2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Google Shape;1202;p 2"/>
          <p:cNvSpPr/>
          <p:nvPr/>
        </p:nvSpPr>
        <p:spPr>
          <a:xfrm>
            <a:off x="551880" y="489600"/>
            <a:ext cx="14290920" cy="14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Проблемы простого поиска слов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1096;p 1"/>
          <p:cNvSpPr/>
          <p:nvPr/>
        </p:nvSpPr>
        <p:spPr>
          <a:xfrm>
            <a:off x="551880" y="489600"/>
            <a:ext cx="12862080" cy="61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36000" bIns="9144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7200" b="1" u="none" strike="noStrike">
                <a:solidFill>
                  <a:srgbClr val="4bd0a0"/>
                </a:solidFill>
                <a:effectLst/>
                <a:uFillTx/>
                <a:latin typeface="Proxima Nova"/>
                <a:ea typeface="Proxima Nova"/>
              </a:rPr>
              <a:t>Основная проблема:</a:t>
            </a:r>
            <a:endParaRPr lang="ru-RU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60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НЕТ НИКАКОЙ СТАНДАРТИЗАЦИИ В ИМЕНОВАНИИ ПРОЕКТОВ!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bd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1030;p 2"/>
          <p:cNvSpPr/>
          <p:nvPr/>
        </p:nvSpPr>
        <p:spPr>
          <a:xfrm>
            <a:off x="12611880" y="3974400"/>
            <a:ext cx="5675400" cy="5675400"/>
          </a:xfrm>
          <a:prstGeom prst="ellipse">
            <a:avLst/>
          </a:pr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84" name="Google Shape;1031;p 3"/>
          <p:cNvSpPr/>
          <p:nvPr/>
        </p:nvSpPr>
        <p:spPr>
          <a:xfrm>
            <a:off x="6934320" y="3952800"/>
            <a:ext cx="5675400" cy="5675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2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32;p 3"/>
          <p:cNvSpPr/>
          <p:nvPr/>
        </p:nvSpPr>
        <p:spPr>
          <a:xfrm>
            <a:off x="551880" y="489600"/>
            <a:ext cx="14291280" cy="49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Описание проекта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133;p 1"/>
          <p:cNvSpPr/>
          <p:nvPr/>
        </p:nvSpPr>
        <p:spPr>
          <a:xfrm>
            <a:off x="551880" y="2217600"/>
            <a:ext cx="754776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Автомобильные дороги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Водоотведение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Водопроводы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Газоны, дорожки, площадки, фонтаны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Газопроводы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Горные выработки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Железнодорожные пути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Заводы, фабрики, индустриальные парки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Здания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Инженерное обеспечение территорий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34;p 1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42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Цель проекта: разделить список проектов капитального строительства на 19 классов</a:t>
            </a:r>
            <a:endParaRPr lang="ru-RU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33;p 2"/>
          <p:cNvSpPr/>
          <p:nvPr/>
        </p:nvSpPr>
        <p:spPr>
          <a:xfrm>
            <a:off x="8460000" y="2160000"/>
            <a:ext cx="845964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Инфраструктура наземного электротранспорта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Линии электропередачи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Метрополитены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Мосты и тоннели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Наружное освещение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Нефтепроводы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Сооружения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Теплопроводы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Технологические установки 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80;p55"/>
          <p:cNvGrpSpPr/>
          <p:nvPr/>
        </p:nvGrpSpPr>
        <p:grpSpPr>
          <a:xfrm>
            <a:off x="551880" y="2462400"/>
            <a:ext cx="10003680" cy="488880"/>
            <a:chOff x="551880" y="2462400"/>
            <a:chExt cx="10003680" cy="488880"/>
          </a:xfrm>
        </p:grpSpPr>
        <p:sp>
          <p:nvSpPr>
            <p:cNvPr id="90" name="Google Shape;881;p 1"/>
            <p:cNvSpPr/>
            <p:nvPr/>
          </p:nvSpPr>
          <p:spPr>
            <a:xfrm>
              <a:off x="1981080" y="2462400"/>
              <a:ext cx="8574480" cy="48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Данные «Единого государственного реестра» за 2022-2024 годы. Примерно 260000 записей.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Google Shape;882;p 1"/>
            <p:cNvSpPr/>
            <p:nvPr/>
          </p:nvSpPr>
          <p:spPr>
            <a:xfrm>
              <a:off x="551880" y="2464200"/>
              <a:ext cx="485280" cy="4852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1800" b="1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1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2" name="Google Shape;883;p 1"/>
          <p:cNvGrpSpPr/>
          <p:nvPr/>
        </p:nvGrpSpPr>
        <p:grpSpPr>
          <a:xfrm>
            <a:off x="551880" y="3452400"/>
            <a:ext cx="10003680" cy="499680"/>
            <a:chOff x="551880" y="3452400"/>
            <a:chExt cx="10003680" cy="499680"/>
          </a:xfrm>
        </p:grpSpPr>
        <p:sp>
          <p:nvSpPr>
            <p:cNvPr id="93" name="Google Shape;884;p 1"/>
            <p:cNvSpPr/>
            <p:nvPr/>
          </p:nvSpPr>
          <p:spPr>
            <a:xfrm>
              <a:off x="1981080" y="3452400"/>
              <a:ext cx="8574480" cy="49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Размеченные экспертом данные - по </a:t>
              </a:r>
              <a:r>
                <a:rPr lang="ru" sz="24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100 на каждый класс проектов. Итого </a:t>
              </a:r>
              <a:r>
                <a:rPr lang="ru" sz="24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1900 записей.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Google Shape;885;p 1"/>
            <p:cNvSpPr/>
            <p:nvPr/>
          </p:nvSpPr>
          <p:spPr>
            <a:xfrm>
              <a:off x="551880" y="3459600"/>
              <a:ext cx="485280" cy="4852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18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2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Google Shape;886;p 1"/>
          <p:cNvGrpSpPr/>
          <p:nvPr/>
        </p:nvGrpSpPr>
        <p:grpSpPr>
          <a:xfrm>
            <a:off x="551880" y="4442400"/>
            <a:ext cx="10003680" cy="503280"/>
            <a:chOff x="551880" y="4442400"/>
            <a:chExt cx="10003680" cy="503280"/>
          </a:xfrm>
        </p:grpSpPr>
        <p:sp>
          <p:nvSpPr>
            <p:cNvPr id="96" name="Google Shape;887;p 1"/>
            <p:cNvSpPr/>
            <p:nvPr/>
          </p:nvSpPr>
          <p:spPr>
            <a:xfrm>
              <a:off x="1981080" y="4442400"/>
              <a:ext cx="8574480" cy="50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lang="ru" sz="24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Файл с ключевыми словами, вероятно относящими проект к тому или иному классу.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Google Shape;888;p 1"/>
            <p:cNvSpPr/>
            <p:nvPr/>
          </p:nvSpPr>
          <p:spPr>
            <a:xfrm>
              <a:off x="551880" y="4451400"/>
              <a:ext cx="485280" cy="4852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18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3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Google Shape;901;p 1"/>
          <p:cNvSpPr/>
          <p:nvPr/>
        </p:nvSpPr>
        <p:spPr>
          <a:xfrm>
            <a:off x="551880" y="489600"/>
            <a:ext cx="14291280" cy="14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Данные 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bd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1030;p 5"/>
          <p:cNvSpPr/>
          <p:nvPr/>
        </p:nvSpPr>
        <p:spPr>
          <a:xfrm>
            <a:off x="12611880" y="3974400"/>
            <a:ext cx="5675400" cy="5675400"/>
          </a:xfrm>
          <a:prstGeom prst="ellipse">
            <a:avLst/>
          </a:pr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00" name="Google Shape;1031;p 1"/>
          <p:cNvSpPr/>
          <p:nvPr/>
        </p:nvSpPr>
        <p:spPr>
          <a:xfrm>
            <a:off x="6934320" y="3952800"/>
            <a:ext cx="5675400" cy="5675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3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032;p 1"/>
          <p:cNvSpPr/>
          <p:nvPr/>
        </p:nvSpPr>
        <p:spPr>
          <a:xfrm>
            <a:off x="551880" y="489600"/>
            <a:ext cx="14291280" cy="49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Exploratory </a:t>
            </a: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Data </a:t>
            </a: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Analysis 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(EDA)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133;p 11"/>
          <p:cNvSpPr/>
          <p:nvPr/>
        </p:nvSpPr>
        <p:spPr>
          <a:xfrm>
            <a:off x="551880" y="2217600"/>
            <a:ext cx="1286208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Анализ структуры текста (имени проекта), из </a:t>
            </a: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чего он состоит. 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Токенезация и нормализация текста.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Подсчет распределения длин текстов.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Подсчет  коэффициента лексического </a:t>
            </a: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разнообразия (TTR Type‑Token Ratio), </a:t>
            </a: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количества уникальных слов в корпусе.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Просмотр наиболее распространенных и </a:t>
            </a: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уникальных слов.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Выводы по результатам анализа.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134;p 10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EDA. Этапы.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133;p 3"/>
          <p:cNvSpPr/>
          <p:nvPr/>
        </p:nvSpPr>
        <p:spPr>
          <a:xfrm>
            <a:off x="551880" y="2217600"/>
            <a:ext cx="1286208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Капитальный ремонт вентиляционных киосков Московского метрополитена. ВШ-848, Почтовый адрес: 'Москва, Большой Кисловский переулок, д. 10 район Арбат Центрального административного округа города Москвы'</a:t>
            </a:r>
            <a:br>
              <a:rPr sz="1400"/>
            </a:b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DejaVu Sans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Реконструкция тепловых сетей от ЦТП № 117, Почтовый адрес: 'Российская Федерация, Кировская область, г.Киров, ул.Свободы,138'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Берегоукрепительные (берегозащитные) сооружения. База отдыха "Мыс Айя", Почтовый адрес: 'Россия, Республика Крым, Севастополь, урочище Батилиман'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Капитальный ремонт по объекту: "МАДОУ д/с "Детство", расположенного по адресу: Московская область, г. Котельники, мкр. Ковровый, д. 35", Почтовый адрес: 'Московская область, г. Котельники'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134;p 3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EDA. Анализ структуры текста. 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Примеры записей реестра.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506;p 2"/>
          <p:cNvSpPr/>
          <p:nvPr/>
        </p:nvSpPr>
        <p:spPr>
          <a:xfrm>
            <a:off x="551880" y="489600"/>
            <a:ext cx="14291280" cy="14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EDA. Распределение длин текстов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465840" y="2520000"/>
            <a:ext cx="10154160" cy="54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880;p 1"/>
          <p:cNvGrpSpPr/>
          <p:nvPr/>
        </p:nvGrpSpPr>
        <p:grpSpPr>
          <a:xfrm>
            <a:off x="551880" y="2462400"/>
            <a:ext cx="10003680" cy="488880"/>
            <a:chOff x="551880" y="2462400"/>
            <a:chExt cx="10003680" cy="488880"/>
          </a:xfrm>
        </p:grpSpPr>
        <p:sp>
          <p:nvSpPr>
            <p:cNvPr id="109" name="Google Shape;881;p 2"/>
            <p:cNvSpPr/>
            <p:nvPr/>
          </p:nvSpPr>
          <p:spPr>
            <a:xfrm>
              <a:off x="1981080" y="2462400"/>
              <a:ext cx="8574480" cy="48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lang="ru" sz="24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TTR равен 0.96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Google Shape;882;p 2"/>
            <p:cNvSpPr/>
            <p:nvPr/>
          </p:nvSpPr>
          <p:spPr>
            <a:xfrm>
              <a:off x="551880" y="2464200"/>
              <a:ext cx="485280" cy="4852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1800" b="1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1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" name="Google Shape;883;p 2"/>
          <p:cNvGrpSpPr/>
          <p:nvPr/>
        </p:nvGrpSpPr>
        <p:grpSpPr>
          <a:xfrm>
            <a:off x="551880" y="3452400"/>
            <a:ext cx="10003680" cy="499680"/>
            <a:chOff x="551880" y="3452400"/>
            <a:chExt cx="10003680" cy="499680"/>
          </a:xfrm>
        </p:grpSpPr>
        <p:sp>
          <p:nvSpPr>
            <p:cNvPr id="112" name="Google Shape;884;p 2"/>
            <p:cNvSpPr/>
            <p:nvPr/>
          </p:nvSpPr>
          <p:spPr>
            <a:xfrm>
              <a:off x="1981080" y="3452400"/>
              <a:ext cx="8574480" cy="49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spcBef>
                  <a:spcPts val="1191"/>
                </a:spcBef>
                <a:spcAft>
                  <a:spcPts val="992"/>
                </a:spcAft>
                <a:tabLst>
                  <a:tab algn="l" pos="0"/>
                </a:tabLst>
              </a:pPr>
              <a:r>
                <a:rPr lang="ru" sz="24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Количество уникальных слов равно 70979 </a:t>
              </a:r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Google Shape;885;p 2"/>
            <p:cNvSpPr/>
            <p:nvPr/>
          </p:nvSpPr>
          <p:spPr>
            <a:xfrm>
              <a:off x="551880" y="3459600"/>
              <a:ext cx="485280" cy="485280"/>
            </a:xfrm>
            <a:prstGeom prst="ellipse">
              <a:avLst/>
            </a:prstGeom>
            <a:noFill/>
            <a:ln w="28440">
              <a:solidFill>
                <a:srgbClr val="4bd0a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lang="ru" sz="1800" b="1" u="none" strike="noStrike">
                  <a:solidFill>
                    <a:schemeClr val="dk1"/>
                  </a:solidFill>
                  <a:effectLst/>
                  <a:uFillTx/>
                  <a:latin typeface="Proxima Nova"/>
                  <a:ea typeface="Proxima Nova"/>
                </a:rPr>
                <a:t>2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" name="Google Shape;901;p 2"/>
          <p:cNvSpPr/>
          <p:nvPr/>
        </p:nvSpPr>
        <p:spPr>
          <a:xfrm>
            <a:off x="551880" y="489600"/>
            <a:ext cx="14928120" cy="14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EDA.</a:t>
            </a:r>
            <a:endParaRPr lang="ru-RU" sz="5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TTR и количество уникальных слов.</a:t>
            </a:r>
            <a:endParaRPr lang="ru-RU" sz="5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33;p 12"/>
          <p:cNvSpPr/>
          <p:nvPr/>
        </p:nvSpPr>
        <p:spPr>
          <a:xfrm>
            <a:off x="551880" y="1620000"/>
            <a:ext cx="1600812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15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Предварительно надо удалить строки «Не требуется».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15000"/>
              </a:lnSpc>
              <a:buClr>
                <a:srgbClr val="4bd0a0"/>
              </a:buClr>
              <a:buFont typeface="Proxima Nova"/>
              <a:buChar char="●"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15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Имена проектов содержат в себе нерелевантные для решения задачи классификации данные – адреса. Все адреса находятся в конце текста и после них нет релевантной информации, т.е. их можно просто удалить разбив текст по ключевым словам и словосочетаниям «Почтовый адрес:», «по адресу», «адрес объекта».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15000"/>
              </a:lnSpc>
              <a:buClr>
                <a:srgbClr val="4bd0a0"/>
              </a:buClr>
              <a:buFont typeface="Proxima Nova"/>
              <a:buChar char="●"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15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Оставшаяся часть имени проекта представляет из себя небольшой текст, в среднем от 5 до 20 слов. Лексическое разнообразие довольно высокое, очень много уникальных слов. Tf-idf метркика будет работать плохо, лучше оценивать слова по семантической близости, а не только частотно.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15000"/>
              </a:lnSpc>
              <a:buClr>
                <a:srgbClr val="4bd0a0"/>
              </a:buClr>
              <a:buFont typeface="Proxima Nova"/>
              <a:buChar char="●"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15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Есть смысл добавить обработку ключевых слов и постепенно расширять словарь аббревиатур, поскольку в тексте их очень много.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15000"/>
              </a:lnSpc>
              <a:buClr>
                <a:srgbClr val="4bd0a0"/>
              </a:buClr>
              <a:buFont typeface="Proxima Nova"/>
              <a:buChar char="●"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15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При лемматизации слов нужно стараться пропускать аббревиатуры, чтобы лемматизатор не изменил их и они нашлись в словаре.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134;p 11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EDA. Выводы.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bd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030;p 3"/>
          <p:cNvSpPr/>
          <p:nvPr/>
        </p:nvSpPr>
        <p:spPr>
          <a:xfrm>
            <a:off x="12611880" y="3974400"/>
            <a:ext cx="5675400" cy="5675400"/>
          </a:xfrm>
          <a:prstGeom prst="ellipse">
            <a:avLst/>
          </a:pr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8" name="Google Shape;1031;p 4"/>
          <p:cNvSpPr/>
          <p:nvPr/>
        </p:nvSpPr>
        <p:spPr>
          <a:xfrm>
            <a:off x="6934320" y="3952800"/>
            <a:ext cx="5675400" cy="5675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4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032;p 4"/>
          <p:cNvSpPr/>
          <p:nvPr/>
        </p:nvSpPr>
        <p:spPr>
          <a:xfrm>
            <a:off x="551880" y="489600"/>
            <a:ext cx="14291280" cy="49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Реализация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133;p 4"/>
          <p:cNvSpPr/>
          <p:nvPr/>
        </p:nvSpPr>
        <p:spPr>
          <a:xfrm>
            <a:off x="551880" y="2217600"/>
            <a:ext cx="1286208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Подготовить данные для анализа – убрать пустые строки, убрать нерелевантные части имен проектов, загрузить ключевые слова и выражения и привести их к нормальной форме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Использовать набор ключевых слов, которые дал эксперт предметной области, для модификации векторов текстов для увеличения вероятности отнесения проекта к тому или иному классу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Векторизовать обработанные тексты различными способами и классифицировать используя разные модели, замеряя результаты.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</a:t>
            </a:r>
            <a:br>
              <a:rPr sz="1400"/>
            </a:b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DejaVu Sans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134;p 2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Общая идея реализации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133;p 5"/>
          <p:cNvSpPr/>
          <p:nvPr/>
        </p:nvSpPr>
        <p:spPr>
          <a:xfrm>
            <a:off x="551880" y="2217600"/>
            <a:ext cx="1546776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Удалены пустые строки. В нашем датасете это строки с записью в имени проекта «Не требуется». Таких записей около 8000.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Удалены части имен проектов, содержащие адрес. Эти части дают много семантического шума, поскольку имена улиц и населенных пунктов могут содержать слова семантически близкие к какой-то категории. Например: поселок Газопровод или поселок Мелиоративный.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Собран словарь ключевых слов, предварительно приведенных в нормальную форму (кроме аббревиатур), удалена пунктуация и стоп-слова.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134;p 4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Обработка данных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133;p 7"/>
          <p:cNvSpPr/>
          <p:nvPr/>
        </p:nvSpPr>
        <p:spPr>
          <a:xfrm>
            <a:off x="551880" y="2217600"/>
            <a:ext cx="1546776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Использована векторизация с помощью Word2Vec библиотеки gensim. Размер вектора равен 300, величина окна – 5.Модель была создана с передачей всего доступного корпуса текстов, которые предварительно были токенезированы и приведены в нормальную форму. 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Использован словарь ключевых слов и выражений. Был создан вектор из 19 (количество классов) элементов и для каждого текста инкрементировался соответствующий элемент вектора, если в тексте было найдено слово из словаря отнесенное к определенному классу. Далее полученный вектор конкатенирован с вектором из Wod2Vec и финальный вектор нормализован. 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Использован SentenceTansformer с моделью "sberbank-ai/sbert_large_nlu_ru" в которую подавался не лемматизированный текст.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134;p 6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Векторизация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133;p 6"/>
          <p:cNvSpPr/>
          <p:nvPr/>
        </p:nvSpPr>
        <p:spPr>
          <a:xfrm>
            <a:off x="551880" y="2217600"/>
            <a:ext cx="1286208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"МАДОУ" "Здания"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"ГАПОУ" "Здания"</a:t>
            </a:r>
            <a:r>
              <a:rPr lang="ru" sz="14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DejaVu Sans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"градирня" "Сооружения"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"Посадочная площадка" "Сооружения"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"космодром" "Сооружения"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50000"/>
              </a:lnSpc>
              <a:buClr>
                <a:srgbClr val="4bd0a0"/>
              </a:buClr>
              <a:buFont typeface="Proxima Nova"/>
              <a:buChar char="●"/>
            </a:pPr>
            <a:r>
              <a:rPr lang="ru-RU" sz="3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"Логистический комплекс" "Заводы, фабрики, индустриальные парки"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134;p 5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Примеры записей в файле ключевых слов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133;p 8"/>
          <p:cNvSpPr/>
          <p:nvPr/>
        </p:nvSpPr>
        <p:spPr>
          <a:xfrm>
            <a:off x="551880" y="2217600"/>
            <a:ext cx="1546776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Использована модель логистической регрессии из библиотеки sklearn. Произведен поиск лучших параметров с помощью GridSearchCV и RandomSearchCV.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Использована модель XGBoost. Произведен поиск лучших параметров с помощью GridSearchCV и RandomSearchCV.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Использована модель CatBoost. Произведен поиск лучших параметров с помощью GridSearchCV и RandomSearchCV.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30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Использована модель LightGBM. Произведен поиск лучших параметров с помощью GridSearchCV и RandomSearchCV.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134;p 7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Классификация. Выполнена для каждого способа векторизации.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bd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030;p 6"/>
          <p:cNvSpPr/>
          <p:nvPr/>
        </p:nvSpPr>
        <p:spPr>
          <a:xfrm>
            <a:off x="12611880" y="3974400"/>
            <a:ext cx="5675400" cy="5675400"/>
          </a:xfrm>
          <a:prstGeom prst="ellipse">
            <a:avLst/>
          </a:pr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31" name="Google Shape;1031;p 6"/>
          <p:cNvSpPr/>
          <p:nvPr/>
        </p:nvSpPr>
        <p:spPr>
          <a:xfrm>
            <a:off x="6934320" y="3952800"/>
            <a:ext cx="5675400" cy="5675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5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032;p 6"/>
          <p:cNvSpPr/>
          <p:nvPr/>
        </p:nvSpPr>
        <p:spPr>
          <a:xfrm>
            <a:off x="551880" y="489600"/>
            <a:ext cx="14291280" cy="49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Результаты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2256;p 1"/>
          <p:cNvGraphicFramePr/>
          <p:nvPr/>
        </p:nvGraphicFramePr>
        <p:xfrm>
          <a:off x="711720" y="1468800"/>
          <a:ext cx="16459200" cy="7920000"/>
        </p:xfrm>
        <a:graphic>
          <a:graphicData uri="http://schemas.openxmlformats.org/drawingml/2006/table">
            <a:tbl>
              <a:tblPr/>
              <a:tblGrid>
                <a:gridCol w="4348440"/>
                <a:gridCol w="3227040"/>
                <a:gridCol w="3122640"/>
                <a:gridCol w="2778480"/>
                <a:gridCol w="2982960"/>
              </a:tblGrid>
              <a:tr h="466560">
                <a:tc>
                  <a:txBody>
                    <a:bodyPr lIns="108000" rIns="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800" b="1" u="none" strike="noStrike">
                          <a:solidFill>
                            <a:srgbClr val="4bd0a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Способ векторизации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000" marR="0" marT="0" marB="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800" b="1" u="none" strike="noStrike">
                          <a:solidFill>
                            <a:srgbClr val="4bd0a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LogReg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800" b="1" u="none" strike="noStrike">
                          <a:solidFill>
                            <a:srgbClr val="4bd0a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XGBoost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70000"/>
                        </a:lnSpc>
                        <a:tabLst>
                          <a:tab algn="l" pos="0"/>
                        </a:tabLst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800" b="1" u="none" strike="noStrike">
                          <a:solidFill>
                            <a:srgbClr val="4bd0a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CatBoost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70000"/>
                        </a:lnSpc>
                        <a:tabLst>
                          <a:tab algn="l" pos="0"/>
                        </a:tabLst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1080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800" b="1" u="none" strike="noStrike">
                          <a:solidFill>
                            <a:srgbClr val="4bd0a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LightGBM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70000"/>
                        </a:lnSpc>
                        <a:tabLst>
                          <a:tab algn="l" pos="0"/>
                        </a:tabLst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108000" marT="0" marB="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5640">
                <a:tc>
                  <a:txBody>
                    <a:bodyPr lIns="108000" rIns="0" tIns="36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SentenceTransformer (sberbank-ai/sbert_large_nlu_ru)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Без удаления адресов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8000" marR="0" marT="36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0.8552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0.8078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0.7947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108000" tIns="72000" bIns="0" anchor="ctr">
                      <a:noAutofit/>
                    </a:bodyPr>
                    <a:p>
                      <a:pPr algn="r"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—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10800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46520">
                <a:tc>
                  <a:txBody>
                    <a:bodyPr lIns="108000" rIns="0" tIns="36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SentenceTransformer (sberbank-ai/sbert_large_nlu_ru)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После удаления адресов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8000" marR="0" marT="36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</a:t>
                      </a: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0.8710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</a:t>
                      </a: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0.8263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</a:t>
                      </a: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0.8105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Precision: 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Recall: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F1-score: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10800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</a:t>
                      </a: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0.8184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10800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46520">
                <a:tc>
                  <a:txBody>
                    <a:bodyPr lIns="10800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Word2Vec, размер 300, окно 5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800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0.8789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0.8605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0.8421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10800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0.8631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10800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46520">
                <a:tc>
                  <a:txBody>
                    <a:bodyPr lIns="10800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Word2Vec, размер 300, окно 5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С добавлением вектора ключевых слов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800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4bd0a0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</a:t>
                      </a: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0.9657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4bd0a0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</a:t>
                      </a: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0.9684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4bd0a0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0.9684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4bd0a0"/>
                    </a:solidFill>
                  </a:tcPr>
                </a:tc>
                <a:tc>
                  <a:txBody>
                    <a:bodyPr lIns="0" rIns="10800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Accuracy: 0.9684</a:t>
                      </a:r>
                      <a:endParaRPr lang="ru-RU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10800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4bd0a0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2257;p 1"/>
          <p:cNvSpPr/>
          <p:nvPr/>
        </p:nvSpPr>
        <p:spPr>
          <a:xfrm>
            <a:off x="551880" y="489600"/>
            <a:ext cx="14308560" cy="172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Результаты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2256;p 2"/>
          <p:cNvGraphicFramePr/>
          <p:nvPr/>
        </p:nvGraphicFramePr>
        <p:xfrm>
          <a:off x="711720" y="1468800"/>
          <a:ext cx="16459200" cy="7738560"/>
        </p:xfrm>
        <a:graphic>
          <a:graphicData uri="http://schemas.openxmlformats.org/drawingml/2006/table">
            <a:tbl>
              <a:tblPr/>
              <a:tblGrid>
                <a:gridCol w="4348440"/>
                <a:gridCol w="3227040"/>
                <a:gridCol w="3122640"/>
                <a:gridCol w="2778480"/>
                <a:gridCol w="2982960"/>
              </a:tblGrid>
              <a:tr h="466560">
                <a:tc>
                  <a:txBody>
                    <a:bodyPr lIns="108000" rIns="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800" b="1" u="none" strike="noStrike">
                          <a:solidFill>
                            <a:srgbClr val="4bd0a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Способ векторизации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8000" marR="0" marT="0" marB="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800" b="1" u="none" strike="noStrike">
                          <a:solidFill>
                            <a:srgbClr val="4bd0a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LogReg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800" b="1" u="none" strike="noStrike">
                          <a:solidFill>
                            <a:srgbClr val="4bd0a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XGBoost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70000"/>
                        </a:lnSpc>
                        <a:tabLst>
                          <a:tab algn="l" pos="0"/>
                        </a:tabLst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800" b="1" u="none" strike="noStrike">
                          <a:solidFill>
                            <a:srgbClr val="4bd0a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CatBoost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70000"/>
                        </a:lnSpc>
                        <a:tabLst>
                          <a:tab algn="l" pos="0"/>
                        </a:tabLst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1080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800" b="1" u="none" strike="noStrike">
                          <a:solidFill>
                            <a:srgbClr val="4bd0a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LightGBM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70000"/>
                        </a:lnSpc>
                        <a:tabLst>
                          <a:tab algn="l" pos="0"/>
                        </a:tabLst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108000" marT="0" marB="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85640">
                <a:tc>
                  <a:txBody>
                    <a:bodyPr lIns="108000" rIns="0" tIns="36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SentenceTransformer (sberbank-ai/sbert_large_nlu_ru)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Без удаления адресов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8000" marR="0" marT="36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'solver': 'saga'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'penalty': 'l2'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'max_iter': 1000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'C': 50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learning_rate: 0.1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max_depth: 6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 n_estimators: 200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random_strength: 1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learning_rate: 0.1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l2_leaf_reg: 2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iterations: 300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depth: 3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bagging_temperature: 1.2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108000" tIns="72000" bIns="0" anchor="ctr">
                      <a:noAutofit/>
                    </a:bodyPr>
                    <a:p>
                      <a:pPr algn="r"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—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10800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46520">
                <a:tc>
                  <a:txBody>
                    <a:bodyPr lIns="108000" rIns="0" tIns="36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SentenceTransformer (sberbank-ai/sbert_large_nlu_ru)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После удаления адресов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8000" marR="0" marT="36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solver: 'saga'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penalty: l2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max_iter: 1000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C: 50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learning_rate: 0.1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max_depth: 3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n_estimators: 300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reg_lambda: 0.01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reg_alpha: 0.1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subsample: 0.7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0.8105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random_strength: 1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learning_rate: 0.1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l2_leaf_reg: 4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Iterations: 500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depth: 6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bagging_temperature: 1.0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10800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0.8184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subsample: 0.9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reg_lambda: 5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reg_alpha: 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num_leaves: 30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n_estimators: 500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max_depth: 3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learning_rate: 0.3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-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</a:rPr>
                        <a:t>boosting_type: 'dart'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10800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46520">
                <a:tc>
                  <a:txBody>
                    <a:bodyPr lIns="10800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Word2Vec, размер 300, окно 5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800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solver: 'saga'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penalty: 'l2'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max_iter: 500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C: 10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learning_rate: 0.2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max_depth: 4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subsample: 0.6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reg_alpha: 0.01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reg_lambda: 5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n_estimators: 400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random_strength: 0.5 learning_rate: 0.1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l2_leaf_reg: 2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Iterations: 500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depth: 6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bagging_temperature: 1.2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10800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subsample: 0.5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reg_lambda: 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reg_alpha: 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num_leaves: 40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n_estimators: 500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max_depth: 5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learning_rate: 0.3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boosting_type: 'dart'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10800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46520">
                <a:tc>
                  <a:txBody>
                    <a:bodyPr lIns="108000" rIns="0" tIns="72000" bIns="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Word2Vec, размер 300, окно 5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С добавлением вектора ключевых слов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800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4bd0a0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solver': 'saga'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penalty: 'l1'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max_iter: 500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C: 1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4bd0a0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learning_rate: 0.05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max_depth: 6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subsample: 0.6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reg_lambda: 5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reg_alpha: 0.01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n_estimators: 150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4bd0a0"/>
                    </a:solidFill>
                  </a:tcPr>
                </a:tc>
                <a:tc>
                  <a:txBody>
                    <a:bodyPr lIns="0" rIns="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random_strength: 0.5 learning_rate: 0.5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l2_leaf_reg: 2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Iterations: 300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depth: 6 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bagging_temperature: 1.2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4bd0a0"/>
                    </a:solidFill>
                  </a:tcPr>
                </a:tc>
                <a:tc>
                  <a:txBody>
                    <a:bodyPr lIns="0" rIns="108000" tIns="72000" bIns="0" anchor="ctr">
                      <a:noAutofit/>
                    </a:bodyPr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subsample: 0.8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reg_lambda: 5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reg_alpha: 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num_leaves: 10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n_estimators: 500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max_depth: 6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learning_rate: 0.3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80000"/>
                        </a:lnSpc>
                        <a:tabLst>
                          <a:tab algn="l" pos="0"/>
                        </a:tabLst>
                      </a:pPr>
                      <a:r>
                        <a:rPr lang="ru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roxima Nova"/>
                          <a:ea typeface="Proxima Nova"/>
                        </a:rPr>
                        <a:t>boosting_type: gbdt</a:t>
                      </a:r>
                      <a:endParaRPr lang="ru-RU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0" marR="108000" marT="72000" marB="0">
                    <a:lnL w="28080">
                      <a:solidFill>
                        <a:srgbClr val="f3f4f7"/>
                      </a:solidFill>
                      <a:prstDash val="solid"/>
                    </a:lnL>
                    <a:lnR w="28080">
                      <a:solidFill>
                        <a:srgbClr val="f3f4f7"/>
                      </a:solidFill>
                      <a:prstDash val="solid"/>
                    </a:lnR>
                    <a:lnT w="28080">
                      <a:solidFill>
                        <a:srgbClr val="f3f4f7"/>
                      </a:solidFill>
                      <a:prstDash val="solid"/>
                    </a:lnT>
                    <a:lnB w="28080">
                      <a:solidFill>
                        <a:srgbClr val="f3f4f7"/>
                      </a:solidFill>
                      <a:prstDash val="solid"/>
                    </a:lnB>
                    <a:solidFill>
                      <a:srgbClr val="4bd0a0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2257;p 2"/>
          <p:cNvSpPr/>
          <p:nvPr/>
        </p:nvSpPr>
        <p:spPr>
          <a:xfrm>
            <a:off x="551880" y="489600"/>
            <a:ext cx="14308560" cy="172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Лучшие параметры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506;p 1"/>
          <p:cNvSpPr/>
          <p:nvPr/>
        </p:nvSpPr>
        <p:spPr>
          <a:xfrm>
            <a:off x="551880" y="489600"/>
            <a:ext cx="14291280" cy="14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4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Матрица </a:t>
            </a:r>
            <a:r>
              <a:rPr lang="ru" sz="4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ошибок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"/>
          <p:cNvPicPr/>
          <p:nvPr/>
        </p:nvPicPr>
        <p:blipFill>
          <a:blip r:embed="rId1"/>
          <a:stretch/>
        </p:blipFill>
        <p:spPr>
          <a:xfrm>
            <a:off x="1800000" y="1800000"/>
            <a:ext cx="13320000" cy="742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Google Shape;2254;p114"/>
          <p:cNvSpPr/>
          <p:nvPr/>
        </p:nvSpPr>
        <p:spPr>
          <a:xfrm>
            <a:off x="583560" y="1260000"/>
            <a:ext cx="1237644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ru" sz="2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LogReg. BERT </a:t>
            </a:r>
            <a:r>
              <a:rPr lang="ru" sz="2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sentence </a:t>
            </a:r>
            <a:r>
              <a:rPr lang="ru" sz="2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vectorizer. Без </a:t>
            </a:r>
            <a:r>
              <a:rPr lang="ru" sz="2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использования </a:t>
            </a:r>
            <a:r>
              <a:rPr lang="ru" sz="2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ключевых слов.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506;p 3"/>
          <p:cNvSpPr/>
          <p:nvPr/>
        </p:nvSpPr>
        <p:spPr>
          <a:xfrm>
            <a:off x="551880" y="489600"/>
            <a:ext cx="14291280" cy="14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4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Матрица </a:t>
            </a:r>
            <a:r>
              <a:rPr lang="ru" sz="48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ошибок</a:t>
            </a:r>
            <a:endParaRPr lang="ru-RU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2254;p 1"/>
          <p:cNvSpPr/>
          <p:nvPr/>
        </p:nvSpPr>
        <p:spPr>
          <a:xfrm>
            <a:off x="583560" y="1260000"/>
            <a:ext cx="12376440" cy="4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ru" sz="2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LogReg.  </a:t>
            </a:r>
            <a:r>
              <a:rPr lang="ru" sz="2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Word2Vec </a:t>
            </a:r>
            <a:r>
              <a:rPr lang="ru" sz="2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vectorizer. С </a:t>
            </a:r>
            <a:r>
              <a:rPr lang="ru" sz="2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использованием </a:t>
            </a:r>
            <a:r>
              <a:rPr lang="ru" sz="24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ключевых слов.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"/>
          <p:cNvPicPr/>
          <p:nvPr/>
        </p:nvPicPr>
        <p:blipFill>
          <a:blip r:embed="rId1"/>
          <a:stretch/>
        </p:blipFill>
        <p:spPr>
          <a:xfrm>
            <a:off x="1800000" y="1800000"/>
            <a:ext cx="13320000" cy="742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bd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030;p 4"/>
          <p:cNvSpPr/>
          <p:nvPr/>
        </p:nvSpPr>
        <p:spPr>
          <a:xfrm>
            <a:off x="12611880" y="3974400"/>
            <a:ext cx="5675400" cy="5675400"/>
          </a:xfrm>
          <a:prstGeom prst="ellipse">
            <a:avLst/>
          </a:pr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4" name="Google Shape;1031;p 5"/>
          <p:cNvSpPr/>
          <p:nvPr/>
        </p:nvSpPr>
        <p:spPr>
          <a:xfrm>
            <a:off x="6934320" y="3952800"/>
            <a:ext cx="5675400" cy="56754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6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032;p 5"/>
          <p:cNvSpPr/>
          <p:nvPr/>
        </p:nvSpPr>
        <p:spPr>
          <a:xfrm>
            <a:off x="551880" y="489600"/>
            <a:ext cx="14291280" cy="49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Выводы.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Планы развития.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80000"/>
              </a:lnSpc>
              <a:tabLst>
                <a:tab algn="l" pos="0"/>
              </a:tabLst>
            </a:pP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133;p 9"/>
          <p:cNvSpPr/>
          <p:nvPr/>
        </p:nvSpPr>
        <p:spPr>
          <a:xfrm>
            <a:off x="551880" y="2217600"/>
            <a:ext cx="1546776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Самая простая модель показала себя лучше, чем сложные модели. Делаю вывод, что для такой задачи очень мало данных (100 записей на каждый класс). Думаю это привело к переобучению сложных моделей несмотря на все мои попытки их регуляризации.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Удаление нерелевантных частей (адресов) из текстов повышает качество (точность) на несколько процентов.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Несмотря на то, что SentenceTransformer был использован с довольно большой и современной моделью векторизация Word2Vec для данной задачи дает заметно лучший результат.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RandomSearchCV показывает себя довольно хорошо по сравнению с GridSearchCV. Не получилось добиться сильно лучших результатов перебором всех комбинаций параметров.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Добавление вектора основанного на вхождении в текст аббревиатур и устойчивых выражений сильно улучшает результат.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134;p 8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Выводы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133;p 10"/>
          <p:cNvSpPr/>
          <p:nvPr/>
        </p:nvSpPr>
        <p:spPr>
          <a:xfrm>
            <a:off x="551880" y="2217600"/>
            <a:ext cx="1546776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Для качественного решения этой задачи нужно больше размеченных данных, текущее количество данных не позволяет выделить валидационную выборку для контроля переобучения, сделать большое количество фолдов для кросс-валидации.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Глядя на результаты работы Word2Vec думаю стоит попробовать обучить модель на релевантных ГОСТ-ах и СНИП-ах с разными о размерами окон и векторов. Предполагаю, что это даст хороший результат для редко встречающихся слов в корпусе.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Хочется попробовать дообучить нейросеть архитектуры BERT, тот же sbert_large_nlu_ru и посмореть на результат. Как развитие можно подумать в сторону дообучения его на нормативных документах.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Выделение аббревиатур из текста требует отдельной проработки. Вероятно стоит обучить отдельную модель для определения аббревиатур по результатам парсинга PyMorphy. Проблема в том, что нельзя полагаться лишь на uppercase – люди зачем-то записывают имена проектов заглавными буквами. Просто ставить порог уверенности в результате парсинга не выйдет – слова с множеством вариантов форм будут приняты за аббревиатуры.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134;p 9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Что можно улучшить и развить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133;p 13"/>
          <p:cNvSpPr/>
          <p:nvPr/>
        </p:nvSpPr>
        <p:spPr>
          <a:xfrm>
            <a:off x="551880" y="2217600"/>
            <a:ext cx="15467760" cy="61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8000" bIns="0" anchor="t">
            <a:noAutofit/>
          </a:bodyPr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Несмотря на то, что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учет аббревиатур и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устойчивых выражений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дает хороший результат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– хочется использовать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такой подход по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минимуму. Фактически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это «умный» поиск по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словам и его основная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проблема – он плохо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работает с редкими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вариантами, а они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обычно наиболее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сложны в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классификации.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Нужно оформить проект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в виде утилиты для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удобного повторного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исползования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аналитиками, оставив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возможность для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конфигурирования и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интерактивного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дообучения.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0000" indent="-460440">
              <a:lnSpc>
                <a:spcPct val="100000"/>
              </a:lnSpc>
              <a:buClr>
                <a:srgbClr val="4bd0a0"/>
              </a:buClr>
              <a:buFont typeface="Proxima Nova"/>
              <a:buChar char="●"/>
            </a:pP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Нужно попробовать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заменить все имена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улиц, населенных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пунктов и субъектов на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неименованые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сущности (улица, край,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область, город).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Проблема заключается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в том, что несмотря на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удаление адресов на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этапе предобработки,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имена улиц, городов и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т.п. все равно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фигурируют в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названиях проектов и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дают ненужный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семантический шум,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ненужную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семантическую </a:t>
            </a:r>
            <a:r>
              <a:rPr lang="ru" sz="26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близость.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134;p 12"/>
          <p:cNvSpPr/>
          <p:nvPr/>
        </p:nvSpPr>
        <p:spPr>
          <a:xfrm>
            <a:off x="551880" y="489600"/>
            <a:ext cx="1429092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Что </a:t>
            </a: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можно </a:t>
            </a: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улучшить </a:t>
            </a:r>
            <a:r>
              <a:rPr lang="ru" sz="5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и развить</a:t>
            </a:r>
            <a:endParaRPr lang="ru-RU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bd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609;p 1"/>
          <p:cNvGrpSpPr/>
          <p:nvPr/>
        </p:nvGrpSpPr>
        <p:grpSpPr>
          <a:xfrm>
            <a:off x="3949200" y="723960"/>
            <a:ext cx="19132560" cy="9562320"/>
            <a:chOff x="3949200" y="723960"/>
            <a:chExt cx="19132560" cy="9562320"/>
          </a:xfrm>
        </p:grpSpPr>
        <p:sp>
          <p:nvSpPr>
            <p:cNvPr id="153" name="Google Shape;1610;p 2"/>
            <p:cNvSpPr/>
            <p:nvPr/>
          </p:nvSpPr>
          <p:spPr>
            <a:xfrm>
              <a:off x="13519440" y="723960"/>
              <a:ext cx="9562320" cy="956232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4" name="Google Shape;1611;p 2"/>
            <p:cNvSpPr/>
            <p:nvPr/>
          </p:nvSpPr>
          <p:spPr>
            <a:xfrm>
              <a:off x="3949200" y="723960"/>
              <a:ext cx="9562320" cy="9562320"/>
            </a:xfrm>
            <a:prstGeom prst="ellipse">
              <a:avLst/>
            </a:prstGeom>
            <a:noFill/>
            <a:ln w="2844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55" name="Google Shape;1612;p 2"/>
          <p:cNvSpPr/>
          <p:nvPr/>
        </p:nvSpPr>
        <p:spPr>
          <a:xfrm>
            <a:off x="551880" y="489600"/>
            <a:ext cx="12861720" cy="27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000" bIns="0" anchor="t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lang="ru" sz="96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Спасибо за внимание</a:t>
            </a:r>
            <a:endParaRPr lang="ru-RU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6" name="Google Shape;1624;p 2"/>
          <p:cNvGrpSpPr/>
          <p:nvPr/>
        </p:nvGrpSpPr>
        <p:grpSpPr>
          <a:xfrm>
            <a:off x="17477640" y="9375480"/>
            <a:ext cx="516240" cy="529920"/>
            <a:chOff x="17477640" y="9375480"/>
            <a:chExt cx="516240" cy="529920"/>
          </a:xfrm>
        </p:grpSpPr>
        <p:sp>
          <p:nvSpPr>
            <p:cNvPr id="157" name="Google Shape;1625;p 2"/>
            <p:cNvSpPr/>
            <p:nvPr/>
          </p:nvSpPr>
          <p:spPr>
            <a:xfrm>
              <a:off x="17477640" y="965340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8" name="Google Shape;1626;p 2"/>
            <p:cNvSpPr/>
            <p:nvPr/>
          </p:nvSpPr>
          <p:spPr>
            <a:xfrm>
              <a:off x="17477640" y="937548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3" h="14893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59" name="Google Shape;1627;p 2"/>
            <p:cNvSpPr/>
            <p:nvPr/>
          </p:nvSpPr>
          <p:spPr>
            <a:xfrm>
              <a:off x="17747640" y="937548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  <p:sp>
          <p:nvSpPr>
            <p:cNvPr id="160" name="Google Shape;1628;p 2"/>
            <p:cNvSpPr/>
            <p:nvPr/>
          </p:nvSpPr>
          <p:spPr>
            <a:xfrm>
              <a:off x="17747640" y="9653400"/>
              <a:ext cx="246240" cy="252000"/>
            </a:xfrm>
            <a:custGeom>
              <a:avLst/>
              <a:gdLst>
                <a:gd name="textAreaLeft" fmla="*/ 0 w 246240"/>
                <a:gd name="textAreaRight" fmla="*/ 246960 w 246240"/>
                <a:gd name="textAreaTop" fmla="*/ 0 h 252000"/>
                <a:gd name="textAreaBottom" fmla="*/ 252720 h 252000"/>
              </a:gdLst>
              <a:ahLst/>
              <a:cxnLst/>
              <a:rect l="textAreaLeft" t="textAreaTop" r="textAreaRight" b="textAreaBottom"/>
              <a:pathLst>
                <a:path w="14894" h="14893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grpSp>
        <p:nvGrpSpPr>
          <p:cNvPr id="161" name="Google Shape;1629;p 2"/>
          <p:cNvGrpSpPr/>
          <p:nvPr/>
        </p:nvGrpSpPr>
        <p:grpSpPr>
          <a:xfrm>
            <a:off x="7868160" y="9004680"/>
            <a:ext cx="4284000" cy="740880"/>
            <a:chOff x="7868160" y="9004680"/>
            <a:chExt cx="4284000" cy="740880"/>
          </a:xfrm>
        </p:grpSpPr>
        <p:sp>
          <p:nvSpPr>
            <p:cNvPr id="162" name="Google Shape;1630;p 2"/>
            <p:cNvSpPr/>
            <p:nvPr/>
          </p:nvSpPr>
          <p:spPr>
            <a:xfrm>
              <a:off x="8616600" y="9004680"/>
              <a:ext cx="3535560" cy="74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marL="180000">
                <a:lnSpc>
                  <a:spcPct val="100000"/>
                </a:lnSpc>
                <a:tabLst>
                  <a:tab algn="l" pos="0"/>
                </a:tabLst>
              </a:pPr>
              <a:r>
                <a:rPr lang="ru" sz="1800" b="0" u="none" strike="noStrike">
                  <a:solidFill>
                    <a:srgbClr val="000000"/>
                  </a:solidFill>
                  <a:effectLst/>
                  <a:uFillTx/>
                  <a:latin typeface="Proxima Nova"/>
                  <a:ea typeface="Proxima Nova"/>
                </a:rPr>
                <a:t>tyan.evgeniy@gmail.com</a:t>
              </a:r>
              <a:endPara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Google Shape;1632;p 2"/>
            <p:cNvSpPr/>
            <p:nvPr/>
          </p:nvSpPr>
          <p:spPr>
            <a:xfrm>
              <a:off x="7868160" y="9005400"/>
              <a:ext cx="739800" cy="739800"/>
            </a:xfrm>
            <a:custGeom>
              <a:avLst/>
              <a:gdLst>
                <a:gd name="textAreaLeft" fmla="*/ 0 w 739800"/>
                <a:gd name="textAreaRight" fmla="*/ 740520 w 739800"/>
                <a:gd name="textAreaTop" fmla="*/ 0 h 739800"/>
                <a:gd name="textAreaBottom" fmla="*/ 740520 h 739800"/>
              </a:gdLst>
              <a:ahLst/>
              <a:cxnLst/>
              <a:rect l="textAreaLeft" t="textAreaTop" r="textAreaRight" b="textAreaBottom"/>
              <a:pathLst>
                <a:path w="207448" h="207448">
                  <a:moveTo>
                    <a:pt x="103724" y="0"/>
                  </a:moveTo>
                  <a:cubicBezTo>
                    <a:pt x="46489" y="0"/>
                    <a:pt x="0" y="46489"/>
                    <a:pt x="0" y="103724"/>
                  </a:cubicBezTo>
                  <a:cubicBezTo>
                    <a:pt x="0" y="160959"/>
                    <a:pt x="46489" y="207447"/>
                    <a:pt x="103724" y="207447"/>
                  </a:cubicBezTo>
                  <a:cubicBezTo>
                    <a:pt x="160959" y="207447"/>
                    <a:pt x="207447" y="160959"/>
                    <a:pt x="207447" y="103724"/>
                  </a:cubicBezTo>
                  <a:cubicBezTo>
                    <a:pt x="207447" y="46489"/>
                    <a:pt x="160959" y="0"/>
                    <a:pt x="103724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endParaRPr>
            </a:p>
          </p:txBody>
        </p:sp>
      </p:grpSp>
      <p:sp>
        <p:nvSpPr>
          <p:cNvPr id="164" name="Google Shape;2062;p 4"/>
          <p:cNvSpPr/>
          <p:nvPr/>
        </p:nvSpPr>
        <p:spPr>
          <a:xfrm>
            <a:off x="8002080" y="9185760"/>
            <a:ext cx="449280" cy="448920"/>
          </a:xfrm>
          <a:custGeom>
            <a:avLst/>
            <a:gdLst>
              <a:gd name="textAreaLeft" fmla="*/ 0 w 449280"/>
              <a:gd name="textAreaRight" fmla="*/ 450000 w 449280"/>
              <a:gd name="textAreaTop" fmla="*/ 0 h 448920"/>
              <a:gd name="textAreaBottom" fmla="*/ 449640 h 44892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2375" y="14735"/>
                </a:moveTo>
                <a:cubicBezTo>
                  <a:pt x="12008" y="15178"/>
                  <a:pt x="11621" y="15531"/>
                  <a:pt x="11226" y="15783"/>
                </a:cubicBezTo>
                <a:cubicBezTo>
                  <a:pt x="10834" y="16035"/>
                  <a:pt x="10421" y="16209"/>
                  <a:pt x="10002" y="16302"/>
                </a:cubicBezTo>
                <a:cubicBezTo>
                  <a:pt x="9027" y="16517"/>
                  <a:pt x="8105" y="16493"/>
                  <a:pt x="7342" y="16179"/>
                </a:cubicBezTo>
                <a:cubicBezTo>
                  <a:pt x="6912" y="16003"/>
                  <a:pt x="6537" y="15755"/>
                  <a:pt x="6227" y="15442"/>
                </a:cubicBezTo>
                <a:cubicBezTo>
                  <a:pt x="5915" y="15129"/>
                  <a:pt x="5669" y="14758"/>
                  <a:pt x="5493" y="14340"/>
                </a:cubicBezTo>
                <a:cubicBezTo>
                  <a:pt x="5317" y="13924"/>
                  <a:pt x="5228" y="13459"/>
                  <a:pt x="5228" y="12958"/>
                </a:cubicBezTo>
                <a:cubicBezTo>
                  <a:pt x="5228" y="12161"/>
                  <a:pt x="5386" y="11302"/>
                  <a:pt x="5698" y="10406"/>
                </a:cubicBezTo>
                <a:cubicBezTo>
                  <a:pt x="6010" y="9509"/>
                  <a:pt x="6454" y="8665"/>
                  <a:pt x="7018" y="7900"/>
                </a:cubicBezTo>
                <a:cubicBezTo>
                  <a:pt x="7579" y="7140"/>
                  <a:pt x="8265" y="6498"/>
                  <a:pt x="9058" y="5993"/>
                </a:cubicBezTo>
                <a:cubicBezTo>
                  <a:pt x="9839" y="5496"/>
                  <a:pt x="10706" y="5245"/>
                  <a:pt x="11636" y="5245"/>
                </a:cubicBezTo>
                <a:cubicBezTo>
                  <a:pt x="12014" y="5245"/>
                  <a:pt x="12413" y="5288"/>
                  <a:pt x="12821" y="5373"/>
                </a:cubicBezTo>
                <a:cubicBezTo>
                  <a:pt x="13224" y="5457"/>
                  <a:pt x="13613" y="5599"/>
                  <a:pt x="13978" y="5795"/>
                </a:cubicBezTo>
                <a:cubicBezTo>
                  <a:pt x="14337" y="5989"/>
                  <a:pt x="14658" y="6246"/>
                  <a:pt x="14931" y="6561"/>
                </a:cubicBezTo>
                <a:cubicBezTo>
                  <a:pt x="15189" y="6858"/>
                  <a:pt x="15389" y="7238"/>
                  <a:pt x="15526" y="7692"/>
                </a:cubicBezTo>
                <a:lnTo>
                  <a:pt x="13353" y="13035"/>
                </a:lnTo>
                <a:cubicBezTo>
                  <a:pt x="13072" y="13720"/>
                  <a:pt x="12743" y="14292"/>
                  <a:pt x="12375" y="14735"/>
                </a:cubicBezTo>
                <a:moveTo>
                  <a:pt x="20215" y="16108"/>
                </a:moveTo>
                <a:cubicBezTo>
                  <a:pt x="19749" y="16741"/>
                  <a:pt x="19196" y="17344"/>
                  <a:pt x="18569" y="17900"/>
                </a:cubicBezTo>
                <a:cubicBezTo>
                  <a:pt x="17943" y="18456"/>
                  <a:pt x="17242" y="18946"/>
                  <a:pt x="16484" y="19359"/>
                </a:cubicBezTo>
                <a:cubicBezTo>
                  <a:pt x="15729" y="19770"/>
                  <a:pt x="14914" y="20096"/>
                  <a:pt x="14064" y="20327"/>
                </a:cubicBezTo>
                <a:cubicBezTo>
                  <a:pt x="13217" y="20556"/>
                  <a:pt x="12316" y="20673"/>
                  <a:pt x="11388" y="20673"/>
                </a:cubicBezTo>
                <a:cubicBezTo>
                  <a:pt x="9991" y="20673"/>
                  <a:pt x="8647" y="20458"/>
                  <a:pt x="7393" y="20036"/>
                </a:cubicBezTo>
                <a:cubicBezTo>
                  <a:pt x="6143" y="19615"/>
                  <a:pt x="5029" y="18981"/>
                  <a:pt x="4083" y="18149"/>
                </a:cubicBezTo>
                <a:cubicBezTo>
                  <a:pt x="3138" y="17320"/>
                  <a:pt x="2378" y="16274"/>
                  <a:pt x="1823" y="15041"/>
                </a:cubicBezTo>
                <a:cubicBezTo>
                  <a:pt x="1269" y="13809"/>
                  <a:pt x="989" y="12357"/>
                  <a:pt x="989" y="10727"/>
                </a:cubicBezTo>
                <a:cubicBezTo>
                  <a:pt x="989" y="9370"/>
                  <a:pt x="1254" y="8086"/>
                  <a:pt x="1777" y="6911"/>
                </a:cubicBezTo>
                <a:cubicBezTo>
                  <a:pt x="2301" y="5736"/>
                  <a:pt x="3037" y="4693"/>
                  <a:pt x="3964" y="3814"/>
                </a:cubicBezTo>
                <a:cubicBezTo>
                  <a:pt x="4892" y="2933"/>
                  <a:pt x="6002" y="2230"/>
                  <a:pt x="7264" y="1722"/>
                </a:cubicBezTo>
                <a:cubicBezTo>
                  <a:pt x="8526" y="1215"/>
                  <a:pt x="9914" y="958"/>
                  <a:pt x="11388" y="958"/>
                </a:cubicBezTo>
                <a:cubicBezTo>
                  <a:pt x="12700" y="958"/>
                  <a:pt x="13940" y="1156"/>
                  <a:pt x="15072" y="1549"/>
                </a:cubicBezTo>
                <a:cubicBezTo>
                  <a:pt x="16200" y="1942"/>
                  <a:pt x="17185" y="2497"/>
                  <a:pt x="17998" y="3203"/>
                </a:cubicBezTo>
                <a:cubicBezTo>
                  <a:pt x="18809" y="3906"/>
                  <a:pt x="19455" y="4765"/>
                  <a:pt x="19917" y="5754"/>
                </a:cubicBezTo>
                <a:cubicBezTo>
                  <a:pt x="20377" y="6743"/>
                  <a:pt x="20611" y="7843"/>
                  <a:pt x="20611" y="9023"/>
                </a:cubicBezTo>
                <a:cubicBezTo>
                  <a:pt x="20611" y="10070"/>
                  <a:pt x="20418" y="11059"/>
                  <a:pt x="20038" y="11962"/>
                </a:cubicBezTo>
                <a:cubicBezTo>
                  <a:pt x="19656" y="12869"/>
                  <a:pt x="19171" y="13663"/>
                  <a:pt x="18598" y="14320"/>
                </a:cubicBezTo>
                <a:cubicBezTo>
                  <a:pt x="18028" y="14976"/>
                  <a:pt x="17393" y="15502"/>
                  <a:pt x="16714" y="15880"/>
                </a:cubicBezTo>
                <a:cubicBezTo>
                  <a:pt x="16044" y="16255"/>
                  <a:pt x="15398" y="16444"/>
                  <a:pt x="14792" y="16444"/>
                </a:cubicBezTo>
                <a:cubicBezTo>
                  <a:pt x="14424" y="16444"/>
                  <a:pt x="14151" y="16374"/>
                  <a:pt x="13980" y="16235"/>
                </a:cubicBezTo>
                <a:cubicBezTo>
                  <a:pt x="13810" y="16098"/>
                  <a:pt x="13710" y="15916"/>
                  <a:pt x="13675" y="15677"/>
                </a:cubicBezTo>
                <a:cubicBezTo>
                  <a:pt x="13638" y="15420"/>
                  <a:pt x="13667" y="15109"/>
                  <a:pt x="13764" y="14754"/>
                </a:cubicBezTo>
                <a:cubicBezTo>
                  <a:pt x="13864" y="14385"/>
                  <a:pt x="14007" y="13983"/>
                  <a:pt x="14190" y="13556"/>
                </a:cubicBezTo>
                <a:lnTo>
                  <a:pt x="17729" y="4845"/>
                </a:lnTo>
                <a:lnTo>
                  <a:pt x="16677" y="4845"/>
                </a:lnTo>
                <a:lnTo>
                  <a:pt x="16026" y="6544"/>
                </a:lnTo>
                <a:cubicBezTo>
                  <a:pt x="15715" y="5890"/>
                  <a:pt x="15207" y="5363"/>
                  <a:pt x="14512" y="4972"/>
                </a:cubicBezTo>
                <a:cubicBezTo>
                  <a:pt x="13703" y="4517"/>
                  <a:pt x="12777" y="4287"/>
                  <a:pt x="11759" y="4287"/>
                </a:cubicBezTo>
                <a:cubicBezTo>
                  <a:pt x="10637" y="4287"/>
                  <a:pt x="9596" y="4568"/>
                  <a:pt x="8663" y="5121"/>
                </a:cubicBezTo>
                <a:cubicBezTo>
                  <a:pt x="7739" y="5669"/>
                  <a:pt x="6940" y="6381"/>
                  <a:pt x="6289" y="7238"/>
                </a:cubicBezTo>
                <a:cubicBezTo>
                  <a:pt x="5641" y="8091"/>
                  <a:pt x="5132" y="9032"/>
                  <a:pt x="4777" y="10034"/>
                </a:cubicBezTo>
                <a:cubicBezTo>
                  <a:pt x="4420" y="11037"/>
                  <a:pt x="4240" y="12021"/>
                  <a:pt x="4240" y="12958"/>
                </a:cubicBezTo>
                <a:cubicBezTo>
                  <a:pt x="4240" y="13568"/>
                  <a:pt x="4354" y="14151"/>
                  <a:pt x="4579" y="14689"/>
                </a:cubicBezTo>
                <a:cubicBezTo>
                  <a:pt x="4804" y="15227"/>
                  <a:pt x="5113" y="15701"/>
                  <a:pt x="5499" y="16097"/>
                </a:cubicBezTo>
                <a:cubicBezTo>
                  <a:pt x="5887" y="16495"/>
                  <a:pt x="6354" y="16815"/>
                  <a:pt x="6889" y="17048"/>
                </a:cubicBezTo>
                <a:cubicBezTo>
                  <a:pt x="8063" y="17561"/>
                  <a:pt x="9489" y="17484"/>
                  <a:pt x="10904" y="17025"/>
                </a:cubicBezTo>
                <a:cubicBezTo>
                  <a:pt x="11562" y="16811"/>
                  <a:pt x="12160" y="16412"/>
                  <a:pt x="12689" y="15835"/>
                </a:cubicBezTo>
                <a:cubicBezTo>
                  <a:pt x="12715" y="16226"/>
                  <a:pt x="12874" y="16561"/>
                  <a:pt x="13164" y="16837"/>
                </a:cubicBezTo>
                <a:cubicBezTo>
                  <a:pt x="13559" y="17211"/>
                  <a:pt x="14086" y="17402"/>
                  <a:pt x="14731" y="17402"/>
                </a:cubicBezTo>
                <a:cubicBezTo>
                  <a:pt x="15501" y="17402"/>
                  <a:pt x="16307" y="17176"/>
                  <a:pt x="17124" y="16733"/>
                </a:cubicBezTo>
                <a:cubicBezTo>
                  <a:pt x="17934" y="16294"/>
                  <a:pt x="18680" y="15687"/>
                  <a:pt x="19342" y="14930"/>
                </a:cubicBezTo>
                <a:cubicBezTo>
                  <a:pt x="20001" y="14176"/>
                  <a:pt x="20548" y="13284"/>
                  <a:pt x="20967" y="12281"/>
                </a:cubicBezTo>
                <a:cubicBezTo>
                  <a:pt x="21387" y="11274"/>
                  <a:pt x="21600" y="10178"/>
                  <a:pt x="21600" y="9023"/>
                </a:cubicBezTo>
                <a:cubicBezTo>
                  <a:pt x="21600" y="7651"/>
                  <a:pt x="21328" y="6389"/>
                  <a:pt x="20793" y="5274"/>
                </a:cubicBezTo>
                <a:cubicBezTo>
                  <a:pt x="20258" y="4158"/>
                  <a:pt x="19518" y="3199"/>
                  <a:pt x="18594" y="2422"/>
                </a:cubicBezTo>
                <a:cubicBezTo>
                  <a:pt x="17672" y="1647"/>
                  <a:pt x="16579" y="1043"/>
                  <a:pt x="15346" y="627"/>
                </a:cubicBezTo>
                <a:cubicBezTo>
                  <a:pt x="14116" y="211"/>
                  <a:pt x="12784" y="0"/>
                  <a:pt x="11388" y="0"/>
                </a:cubicBezTo>
                <a:cubicBezTo>
                  <a:pt x="9845" y="0"/>
                  <a:pt x="8365" y="271"/>
                  <a:pt x="6989" y="805"/>
                </a:cubicBezTo>
                <a:cubicBezTo>
                  <a:pt x="5612" y="1340"/>
                  <a:pt x="4389" y="2093"/>
                  <a:pt x="3356" y="3045"/>
                </a:cubicBezTo>
                <a:cubicBezTo>
                  <a:pt x="2321" y="3996"/>
                  <a:pt x="1495" y="5137"/>
                  <a:pt x="899" y="6436"/>
                </a:cubicBezTo>
                <a:cubicBezTo>
                  <a:pt x="302" y="7737"/>
                  <a:pt x="0" y="9181"/>
                  <a:pt x="0" y="10727"/>
                </a:cubicBezTo>
                <a:cubicBezTo>
                  <a:pt x="0" y="12605"/>
                  <a:pt x="334" y="14252"/>
                  <a:pt x="993" y="15622"/>
                </a:cubicBezTo>
                <a:cubicBezTo>
                  <a:pt x="1652" y="16992"/>
                  <a:pt x="2528" y="18134"/>
                  <a:pt x="3595" y="19018"/>
                </a:cubicBezTo>
                <a:cubicBezTo>
                  <a:pt x="4661" y="19900"/>
                  <a:pt x="5890" y="20559"/>
                  <a:pt x="7249" y="20975"/>
                </a:cubicBezTo>
                <a:cubicBezTo>
                  <a:pt x="8601" y="21390"/>
                  <a:pt x="9994" y="21600"/>
                  <a:pt x="11388" y="21600"/>
                </a:cubicBezTo>
                <a:cubicBezTo>
                  <a:pt x="12348" y="21600"/>
                  <a:pt x="13317" y="21474"/>
                  <a:pt x="14267" y="21228"/>
                </a:cubicBezTo>
                <a:cubicBezTo>
                  <a:pt x="15214" y="20981"/>
                  <a:pt x="16128" y="20624"/>
                  <a:pt x="16983" y="20169"/>
                </a:cubicBezTo>
                <a:cubicBezTo>
                  <a:pt x="17839" y="19713"/>
                  <a:pt x="18642" y="19152"/>
                  <a:pt x="19372" y="18499"/>
                </a:cubicBezTo>
                <a:cubicBezTo>
                  <a:pt x="20104" y="17845"/>
                  <a:pt x="20729" y="17110"/>
                  <a:pt x="21232" y="16316"/>
                </a:cubicBezTo>
                <a:lnTo>
                  <a:pt x="21411" y="16033"/>
                </a:lnTo>
                <a:lnTo>
                  <a:pt x="20270" y="16033"/>
                </a:lnTo>
                <a:cubicBezTo>
                  <a:pt x="20270" y="16033"/>
                  <a:pt x="20215" y="16108"/>
                  <a:pt x="20215" y="16108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7280" rIns="17280" tIns="17280" bIns="17280" anchor="ctr">
            <a:noAutofit/>
          </a:bodyPr>
          <a:p>
            <a:pPr>
              <a:lnSpc>
                <a:spcPct val="100000"/>
              </a:lnSpc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65" name="Google Shape;1623;p 2"/>
          <p:cNvSpPr/>
          <p:nvPr/>
        </p:nvSpPr>
        <p:spPr>
          <a:xfrm>
            <a:off x="360000" y="7020000"/>
            <a:ext cx="12419640" cy="17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9000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ru" sz="2400" b="1" u="none" strike="noStrike">
                <a:solidFill>
                  <a:schemeClr val="dk1"/>
                </a:solidFill>
                <a:effectLst/>
                <a:uFillTx/>
                <a:latin typeface="Proxima Nova"/>
                <a:ea typeface="Proxima Nova"/>
              </a:rPr>
              <a:t>Евгений Тян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tabLst>
                <a:tab algn="l" pos="0"/>
              </a:tabLst>
            </a:pPr>
            <a:r>
              <a:rPr lang="ru" sz="2400" b="0" u="none" strike="noStrike">
                <a:solidFill>
                  <a:schemeClr val="dk1"/>
                </a:solidFill>
                <a:effectLst/>
                <a:uFillTx/>
                <a:latin typeface="Proxima Nova"/>
                <a:ea typeface="Proxima Nova"/>
              </a:rPr>
              <a:t>Студент курса: «Машинное обучение: фундаментальные инструменты и практики»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ru" sz="2400" b="0" u="none" strike="noStrike">
                <a:solidFill>
                  <a:schemeClr val="dk1"/>
                </a:solidFill>
                <a:effectLst/>
                <a:uFillTx/>
                <a:latin typeface="Proxima Nova"/>
                <a:ea typeface="Proxima Nova"/>
              </a:rPr>
              <a:t>Ведущий инженер-программист Renga Software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hite Green">
  <a:themeElements>
    <a:clrScheme name="Simple Light">
      <a:dk1>
        <a:srgbClr val="000000"/>
      </a:dk1>
      <a:lt1>
        <a:srgbClr val="ffffff"/>
      </a:lt1>
      <a:dk2>
        <a:srgbClr val="4bd0a0"/>
      </a:dk2>
      <a:lt2>
        <a:srgbClr val="27282d"/>
      </a:lt2>
      <a:accent1>
        <a:srgbClr val="eb236b"/>
      </a:accent1>
      <a:accent2>
        <a:srgbClr val="5d00f5"/>
      </a:accent2>
      <a:accent3>
        <a:srgbClr val="0066ff"/>
      </a:accent3>
      <a:accent4>
        <a:srgbClr val="f3f4f7"/>
      </a:accent4>
      <a:accent5>
        <a:srgbClr val="999999"/>
      </a:accent5>
      <a:accent6>
        <a:srgbClr val="ffffff"/>
      </a:accent6>
      <a:hlink>
        <a:srgbClr val="4bd0a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ck Green">
  <a:themeElements>
    <a:clrScheme name="Simple Light">
      <a:dk1>
        <a:srgbClr val="000000"/>
      </a:dk1>
      <a:lt1>
        <a:srgbClr val="ffffff"/>
      </a:lt1>
      <a:dk2>
        <a:srgbClr val="4bd0a0"/>
      </a:dk2>
      <a:lt2>
        <a:srgbClr val="27282d"/>
      </a:lt2>
      <a:accent1>
        <a:srgbClr val="eb236b"/>
      </a:accent1>
      <a:accent2>
        <a:srgbClr val="5d00f5"/>
      </a:accent2>
      <a:accent3>
        <a:srgbClr val="0066ff"/>
      </a:accent3>
      <a:accent4>
        <a:srgbClr val="f3f4f7"/>
      </a:accent4>
      <a:accent5>
        <a:srgbClr val="ffffff"/>
      </a:accent5>
      <a:accent6>
        <a:srgbClr val="000000"/>
      </a:accent6>
      <a:hlink>
        <a:srgbClr val="999999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 Green">
  <a:themeElements>
    <a:clrScheme name="Simple Light">
      <a:dk1>
        <a:srgbClr val="000000"/>
      </a:dk1>
      <a:lt1>
        <a:srgbClr val="ffffff"/>
      </a:lt1>
      <a:dk2>
        <a:srgbClr val="4bd0a0"/>
      </a:dk2>
      <a:lt2>
        <a:srgbClr val="27282d"/>
      </a:lt2>
      <a:accent1>
        <a:srgbClr val="eb236b"/>
      </a:accent1>
      <a:accent2>
        <a:srgbClr val="5d00f5"/>
      </a:accent2>
      <a:accent3>
        <a:srgbClr val="0066ff"/>
      </a:accent3>
      <a:accent4>
        <a:srgbClr val="f3f4f7"/>
      </a:accent4>
      <a:accent5>
        <a:srgbClr val="999999"/>
      </a:accent5>
      <a:accent6>
        <a:srgbClr val="ffffff"/>
      </a:accent6>
      <a:hlink>
        <a:srgbClr val="4bd0a0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2986</TotalTime>
  <Application>LibreOffice/25.8.6.2$Windows_X86_64 LibreOffice_project/b4b39682cd9868fa725bc664aff94278d315bd04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2026-05-24T20:38:15Z</dcterms:modified>
  <cp:revision>68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4</vt:r8>
  </property>
  <property fmtid="{D5CDD505-2E9C-101B-9397-08002B2CF9AE}" pid="3" name="Notes">
    <vt:r8>77</vt:r8>
  </property>
  <property fmtid="{D5CDD505-2E9C-101B-9397-08002B2CF9AE}" pid="4" name="PresentationFormat">
    <vt:lpwstr>Произвольный</vt:lpwstr>
  </property>
  <property fmtid="{D5CDD505-2E9C-101B-9397-08002B2CF9AE}" pid="5" name="Slides">
    <vt:r8>77</vt:r8>
  </property>
</Properties>
</file>